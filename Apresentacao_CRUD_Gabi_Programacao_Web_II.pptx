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548640"/>
            <a:ext cx="1097280" cy="1097280"/>
          </a:xfrm>
          <a:prstGeom prst="ellipse">
            <a:avLst/>
          </a:prstGeom>
          <a:solidFill>
            <a:srgbClr val="42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371600"/>
            <a:ext cx="594360" cy="594360"/>
          </a:xfrm>
          <a:prstGeom prst="ellipse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509760" y="5212080"/>
            <a:ext cx="1554480" cy="1554480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143000"/>
            <a:ext cx="877824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600" b="1">
                <a:solidFill>
                  <a:srgbClr val="FFFFFF"/>
                </a:solidFill>
                <a:latin typeface="Aptos Display"/>
              </a:rPr>
              <a:t>PROJETO GABI</a:t>
            </a:r>
          </a:p>
          <a:p>
            <a:r>
              <a:rPr sz="2500">
                <a:solidFill>
                  <a:srgbClr val="CDDCF5"/>
                </a:solidFill>
                <a:latin typeface="Aptos"/>
              </a:rPr>
              <a:t>Cadastro de Amigos • CRUD •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63240"/>
            <a:ext cx="8046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42B5BE"/>
                </a:solidFill>
              </a:rPr>
              <a:t>Apresentação técnica</a:t>
            </a:r>
          </a:p>
          <a:p>
            <a:r>
              <a:rPr sz="1500">
                <a:solidFill>
                  <a:srgbClr val="FFFFFF"/>
                </a:solidFill>
              </a:rPr>
              <a:t>Programação Web II</a:t>
            </a:r>
          </a:p>
          <a:p>
            <a:r>
              <a:rPr sz="1400">
                <a:solidFill>
                  <a:srgbClr val="BEC8DC"/>
                </a:solidFill>
              </a:rPr>
              <a:t>Da autenticação ao gerenciamento completo dos registros.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806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AB9D2"/>
                </a:solidFill>
              </a:rPr>
              <a:t>Gabi  •  Projeto final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1. O que o projeto resolve?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VISÃO GERAL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37160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Centraliza o cadastro de amigos em um sistema web.</a:t>
            </a:r>
          </a:p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Permite autenticação para controlar o acesso às funcionalidades.</a:t>
            </a:r>
          </a:p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Organiza os dados para consulta, inclusão, alteração e exclusão.</a:t>
            </a:r>
          </a:p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Aplica conceitos de programação web, banco de dados e validação.</a:t>
            </a:r>
          </a:p>
          <a:p>
            <a:pPr>
              <a:spcAft>
                <a:spcPts val="1400"/>
              </a:spcAft>
              <a:defRPr sz="2000">
                <a:solidFill>
                  <a:srgbClr val="232B37"/>
                </a:solidFill>
                <a:latin typeface="Aptos"/>
              </a:defRPr>
            </a:pPr>
            <a:r>
              <a:t>• Transforma operações manuais em um fluxo digital simples e rastreável.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5166360"/>
            <a:ext cx="31089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73568" y="5367528"/>
            <a:ext cx="438912" cy="438912"/>
          </a:xfrm>
          <a:prstGeom prst="ellipse">
            <a:avLst/>
          </a:prstGeom>
          <a:solidFill>
            <a:srgbClr val="42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53949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22208" y="5349240"/>
            <a:ext cx="22128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Ideia 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5824728"/>
            <a:ext cx="2651760" cy="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Entrar → gerenciar → consultar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2. Visão técnica da solução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ARQUITETURA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0876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709928"/>
            <a:ext cx="438912" cy="438912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7373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691639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167128"/>
            <a:ext cx="246888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Telas de login, cadastro, listagem e edição.</a:t>
            </a:r>
            <a:br/>
            <a:r>
              <a:t>HTML + CSS + componentes do projeto.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150876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818888" y="1709928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17373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67528" y="1691639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Aplicação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2167128"/>
            <a:ext cx="246888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Recebe requisições, valida dados e executa as regras do sistema.</a:t>
            </a:r>
            <a:br/>
            <a:r>
              <a:t>PHP / lógica do projeto.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03920" y="1508760"/>
            <a:ext cx="2926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705088" y="1709928"/>
            <a:ext cx="438912" cy="438912"/>
          </a:xfrm>
          <a:prstGeom prst="ellipse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17373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1691639"/>
            <a:ext cx="20299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Banco de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2167128"/>
            <a:ext cx="2468880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Armazena usuários e amigos.</a:t>
            </a:r>
            <a:br/>
            <a:r>
              <a:t>SQL para inserir, consultar, atualizar e excluir.</a:t>
            </a:r>
          </a:p>
        </p:txBody>
      </p:sp>
      <p:sp>
        <p:nvSpPr>
          <p:cNvPr id="23" name="Chevron 22"/>
          <p:cNvSpPr/>
          <p:nvPr/>
        </p:nvSpPr>
        <p:spPr>
          <a:xfrm>
            <a:off x="3794760" y="1965960"/>
            <a:ext cx="502920" cy="502920"/>
          </a:xfrm>
          <a:prstGeom prst="chevron">
            <a:avLst/>
          </a:prstGeom>
          <a:solidFill>
            <a:srgbClr val="5B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Chevron 23"/>
          <p:cNvSpPr/>
          <p:nvPr/>
        </p:nvSpPr>
        <p:spPr>
          <a:xfrm>
            <a:off x="7680960" y="1965960"/>
            <a:ext cx="502920" cy="502920"/>
          </a:xfrm>
          <a:prstGeom prst="chevron">
            <a:avLst/>
          </a:prstGeom>
          <a:solidFill>
            <a:srgbClr val="5B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" y="3794760"/>
            <a:ext cx="9966960" cy="1600200"/>
          </a:xfrm>
          <a:prstGeom prst="roundRect">
            <a:avLst/>
          </a:prstGeom>
          <a:solidFill>
            <a:srgbClr val="17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1" y="3922776"/>
            <a:ext cx="9637776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  <a:latin typeface="Consolas"/>
              </a:defRPr>
            </a:pPr>
            <a:r>
              <a:t>NAVEGADOR  →  PHP  →  MySQL</a:t>
            </a:r>
            <a:br/>
            <a:br/>
            <a:r>
              <a:t>Login      CRUD      SELECT / INSERT</a:t>
            </a:r>
            <a:br/>
            <a:r>
              <a:t>Sessão     Formulário UPDATE / DELETE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3. Sistema de Login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AUTENTICAÇÃO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481328"/>
            <a:ext cx="438912" cy="438912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087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463039"/>
            <a:ext cx="2487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1  Formulário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38528"/>
            <a:ext cx="292608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O usuário informa suas credenciais.</a:t>
            </a:r>
            <a:br/>
            <a:br/>
            <a:r>
              <a:t>• Campo de usuário/e-mail</a:t>
            </a:r>
            <a:br/>
            <a:r>
              <a:t>• Campo de senha</a:t>
            </a:r>
            <a:br/>
            <a:r>
              <a:t>• Botão Entrar</a:t>
            </a:r>
            <a:br/>
            <a:r>
              <a:t>• Mensagem de erro para dados inválidos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80160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1481328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087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463039"/>
            <a:ext cx="2487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2  Validação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938528"/>
            <a:ext cx="292608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A aplicação verifica se os dados foram preenchidos e compara as credenciais com o cadastro.</a:t>
            </a:r>
            <a:br/>
            <a:br/>
            <a:r>
              <a:t>A autenticação evita que qualquer visitante acesse as áreas restritas.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80160"/>
            <a:ext cx="3383280" cy="43434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47888" y="1481328"/>
            <a:ext cx="438912" cy="438912"/>
          </a:xfrm>
          <a:prstGeom prst="ellipse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5087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463039"/>
            <a:ext cx="2487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3  Sessão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938528"/>
            <a:ext cx="2926080" cy="3538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Após o login, uma sessão mantém o usuário autenticado durante a navegação.</a:t>
            </a:r>
            <a:br/>
            <a:br/>
            <a:r>
              <a:t>Ao sair, a sessão é encerrada e o acesso volta a ser restrito.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4. CRUD: o coração do projeto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FUNCIONALIDADES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618488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600200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CREATE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075688"/>
            <a:ext cx="2057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Cadastrar amigo</a:t>
            </a:r>
            <a:br/>
            <a:br/>
            <a:r>
              <a:t>O formulário coleta os dados e envia as informações para o servidor.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14173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1618488"/>
            <a:ext cx="438912" cy="438912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30168" y="164592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78808" y="1600200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READ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2075688"/>
            <a:ext cx="2057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Listar / consultar</a:t>
            </a:r>
            <a:br/>
            <a:br/>
            <a:r>
              <a:t>Os registros são buscados no banco e apresentados ao usuário.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14173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27648" y="1618488"/>
            <a:ext cx="438912" cy="438912"/>
          </a:xfrm>
          <a:prstGeom prst="ellipse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164592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76288" y="1600200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075688"/>
            <a:ext cx="2057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Editar</a:t>
            </a:r>
            <a:br/>
            <a:br/>
            <a:r>
              <a:t>O usuário seleciona um registro e altera seus dados.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823960" y="141732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25128" y="1618488"/>
            <a:ext cx="438912" cy="438912"/>
          </a:xfrm>
          <a:prstGeom prst="ellipse">
            <a:avLst/>
          </a:prstGeom>
          <a:solidFill>
            <a:srgbClr val="D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25128" y="164592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73768" y="1600200"/>
            <a:ext cx="161848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DELETE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2075688"/>
            <a:ext cx="2057400" cy="2578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Excluir</a:t>
            </a:r>
            <a:br/>
            <a:br/>
            <a:r>
              <a:t>O sistema remove o registro escolhido após a confirmação.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212080"/>
            <a:ext cx="102412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7233B"/>
                </a:solidFill>
              </a:rPr>
              <a:t>CRUD = Create • Read • Update • Delete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5. Cadastro de amigos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CREATE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O usuário abre o formulário de cadastro.</a:t>
            </a:r>
          </a:p>
          <a:p>
            <a:pPr>
              <a:spcAft>
                <a:spcPts val="14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Os campos são preenchidos e enviados para o servidor.</a:t>
            </a:r>
          </a:p>
          <a:p>
            <a:pPr>
              <a:spcAft>
                <a:spcPts val="14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A aplicação valida os valores antes de gravar.</a:t>
            </a:r>
          </a:p>
          <a:p>
            <a:pPr>
              <a:spcAft>
                <a:spcPts val="14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O comando INSERT registra os dados no banco.</a:t>
            </a:r>
          </a:p>
          <a:p>
            <a:pPr>
              <a:spcAft>
                <a:spcPts val="1400"/>
              </a:spcAft>
              <a:defRPr sz="1800">
                <a:solidFill>
                  <a:srgbClr val="232B37"/>
                </a:solidFill>
                <a:latin typeface="Aptos"/>
              </a:defRPr>
            </a:pPr>
            <a:r>
              <a:t>• Após o cadastro, o sistema pode redirecionar para a listagem.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508760"/>
            <a:ext cx="4709160" cy="2514600"/>
          </a:xfrm>
          <a:prstGeom prst="roundRect">
            <a:avLst/>
          </a:prstGeom>
          <a:solidFill>
            <a:srgbClr val="17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02552" y="1636776"/>
            <a:ext cx="4379976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INSERT INTO amigos</a:t>
            </a:r>
            <a:br/>
            <a:r>
              <a:t>(nome, email, telefone)</a:t>
            </a:r>
            <a:br/>
            <a:r>
              <a:t>VALUES</a:t>
            </a:r>
            <a:br/>
            <a:r>
              <a:t>(:nome, :email, :telefone);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4297680"/>
            <a:ext cx="47091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739128" y="4498848"/>
            <a:ext cx="438912" cy="438912"/>
          </a:xfrm>
          <a:prstGeom prst="ellipse">
            <a:avLst/>
          </a:prstGeom>
          <a:solidFill>
            <a:srgbClr val="42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9128" y="452628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4480560"/>
            <a:ext cx="38130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Ponto técnico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4956048"/>
            <a:ext cx="42519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Prepared statements ajudam a separar dados do comando SQL e reduzem riscos de injeção.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6. Consulta e listagem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READ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4937760" cy="1508760"/>
          </a:xfrm>
          <a:prstGeom prst="roundRect">
            <a:avLst/>
          </a:prstGeom>
          <a:solidFill>
            <a:srgbClr val="17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453895"/>
            <a:ext cx="4608576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Consolas"/>
              </a:defRPr>
            </a:pPr>
            <a:r>
              <a:t>SELECT id, nome, email, telefone</a:t>
            </a:r>
            <a:br/>
            <a:r>
              <a:t>FROM amigos</a:t>
            </a:r>
            <a:br/>
            <a:r>
              <a:t>ORDER BY nome;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54680"/>
            <a:ext cx="493776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24128" y="3355848"/>
            <a:ext cx="438912" cy="438912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38328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3337560"/>
            <a:ext cx="404164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O que acontece?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3813048"/>
            <a:ext cx="448056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1. O servidor solicita os registros.</a:t>
            </a:r>
            <a:br/>
            <a:r>
              <a:t>2. O banco retorna os resultados.</a:t>
            </a:r>
            <a:br/>
            <a:r>
              <a:t>3. A aplicação percorre os registros.</a:t>
            </a:r>
            <a:br/>
            <a:r>
              <a:t>4. A página monta a tabela para o usuário.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234440"/>
            <a:ext cx="51663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82512" y="1508760"/>
            <a:ext cx="411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8"/>
                </a:solidFill>
              </a:rPr>
              <a:t>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508760"/>
            <a:ext cx="137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8"/>
                </a:solidFill>
              </a:rPr>
              <a:t>NOME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1508760"/>
            <a:ext cx="1828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8"/>
                </a:solidFill>
              </a:rPr>
              <a:t>E-MAIL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95560" y="1508760"/>
            <a:ext cx="914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5B6778"/>
                </a:solidFill>
              </a:rPr>
              <a:t>AÇÕES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05740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03720" y="205740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Ana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05740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ana@email.com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60" y="205740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Editar | Excluir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2496312"/>
            <a:ext cx="4709160" cy="9144"/>
          </a:xfrm>
          <a:prstGeom prst="rect">
            <a:avLst/>
          </a:prstGeom>
          <a:solidFill>
            <a:srgbClr val="E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82512" y="288036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02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03720" y="288036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Bruno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288036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bruno@email.com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5560" y="288036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Editar | Excluir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80" y="3319272"/>
            <a:ext cx="4709160" cy="9144"/>
          </a:xfrm>
          <a:prstGeom prst="rect">
            <a:avLst/>
          </a:prstGeom>
          <a:solidFill>
            <a:srgbClr val="E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82512" y="3703320"/>
            <a:ext cx="594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03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20" y="3703320"/>
            <a:ext cx="1554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Carlos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3703320"/>
            <a:ext cx="2011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carlos@email.com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95560" y="370332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32B37"/>
                </a:solidFill>
              </a:rPr>
              <a:t>Editar | Excluir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4142231"/>
            <a:ext cx="4709160" cy="9144"/>
          </a:xfrm>
          <a:prstGeom prst="rect">
            <a:avLst/>
          </a:prstGeom>
          <a:solidFill>
            <a:srgbClr val="E5EB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7. Edição e exclusão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UPDATE + DELETE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25880"/>
            <a:ext cx="5074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527048"/>
            <a:ext cx="438912" cy="438912"/>
          </a:xfrm>
          <a:prstGeom prst="ellipse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5448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08760"/>
            <a:ext cx="4178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UPDATE — alterar dados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84248"/>
            <a:ext cx="4617720" cy="3355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• Selecionar o amigo na listagem.</a:t>
            </a:r>
            <a:br/>
            <a:r>
              <a:t>• Carregar os dados no formulário.</a:t>
            </a:r>
            <a:br/>
            <a:r>
              <a:t>• Modificar os campos necessários.</a:t>
            </a:r>
            <a:br/>
            <a:r>
              <a:t>• Validar as informações.</a:t>
            </a:r>
            <a:br/>
            <a:r>
              <a:t>• Executar UPDATE no banco.</a:t>
            </a:r>
            <a:br/>
            <a:br/>
            <a:r>
              <a:t>Resultado: o mesmo registro é atualizado.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554480"/>
            <a:ext cx="4663440" cy="1828800"/>
          </a:xfrm>
          <a:prstGeom prst="roundRect">
            <a:avLst/>
          </a:prstGeom>
          <a:solidFill>
            <a:srgbClr val="17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2" y="1682495"/>
            <a:ext cx="4334255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  <a:latin typeface="Consolas"/>
              </a:defRPr>
            </a:pPr>
            <a:r>
              <a:t>UPDATE amigos</a:t>
            </a:r>
            <a:br/>
            <a:r>
              <a:t>SET nome = :nome,</a:t>
            </a:r>
            <a:br/>
            <a:r>
              <a:t>    email = :email</a:t>
            </a:r>
            <a:br/>
            <a:r>
              <a:t>WHERE id = :id;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3749039"/>
            <a:ext cx="4663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327648" y="3950207"/>
            <a:ext cx="438912" cy="438912"/>
          </a:xfrm>
          <a:prstGeom prst="ellipse">
            <a:avLst/>
          </a:prstGeom>
          <a:solidFill>
            <a:srgbClr val="D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977639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931920"/>
            <a:ext cx="3767327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DELETE — remover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407407"/>
            <a:ext cx="420624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A exclusão deve identificar exatamente o registro pelo ID. Uma confirmação antes da remoção evita exclusões acidentais.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8. Validação e segurança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BOAS PRÁTICAS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481328"/>
            <a:ext cx="438912" cy="438912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5087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463039"/>
            <a:ext cx="2487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Validação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938528"/>
            <a:ext cx="292608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• Campos obrigatórios</a:t>
            </a:r>
            <a:br/>
            <a:r>
              <a:t>• Formato de e-mail</a:t>
            </a:r>
            <a:br/>
            <a:r>
              <a:t>• Limites de tamanho</a:t>
            </a:r>
            <a:br/>
            <a:r>
              <a:t>• IDs válidos</a:t>
            </a:r>
            <a:br/>
            <a:r>
              <a:t>• Mensagens claras ao usuário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90288" y="1481328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15087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1463039"/>
            <a:ext cx="2487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Banco de 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1938528"/>
            <a:ext cx="292608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• Chaves e identificadores</a:t>
            </a:r>
            <a:br/>
            <a:r>
              <a:t>• Consultas parametrizadas</a:t>
            </a:r>
            <a:br/>
            <a:r>
              <a:t>• Integridade dos registros</a:t>
            </a:r>
            <a:br/>
            <a:r>
              <a:t>• Tratamento de erros</a:t>
            </a:r>
            <a:br/>
            <a:r>
              <a:t>• Organização das tabelas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280160"/>
            <a:ext cx="33832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47888" y="1481328"/>
            <a:ext cx="438912" cy="438912"/>
          </a:xfrm>
          <a:prstGeom prst="ellipse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47888" y="150876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1463039"/>
            <a:ext cx="248716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Autenticação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938528"/>
            <a:ext cx="2926080" cy="367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• Controle por sessão</a:t>
            </a:r>
            <a:br/>
            <a:r>
              <a:t>• Logout</a:t>
            </a:r>
            <a:br/>
            <a:r>
              <a:t>• Área restrita</a:t>
            </a:r>
            <a:br/>
            <a:r>
              <a:t>• Senhas tratadas com segurança</a:t>
            </a:r>
            <a:br/>
            <a:r>
              <a:t>• Não expor dados desnecessários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9. Fluxo completo da aplicação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DEMONSTRAÇÃO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05740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67CC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6032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33B"/>
                </a:solidFill>
              </a:rPr>
              <a:t>LOGIN</a:t>
            </a:r>
          </a:p>
        </p:txBody>
      </p:sp>
      <p:sp>
        <p:nvSpPr>
          <p:cNvPr id="11" name="Chevron 10"/>
          <p:cNvSpPr/>
          <p:nvPr/>
        </p:nvSpPr>
        <p:spPr>
          <a:xfrm>
            <a:off x="2167128" y="2395728"/>
            <a:ext cx="256032" cy="411480"/>
          </a:xfrm>
          <a:prstGeom prst="chevron">
            <a:avLst/>
          </a:prstGeom>
          <a:solidFill>
            <a:srgbClr val="5B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68879" y="205740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24028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67CC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56032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33B"/>
                </a:solidFill>
              </a:rPr>
              <a:t>MENU</a:t>
            </a:r>
          </a:p>
        </p:txBody>
      </p:sp>
      <p:sp>
        <p:nvSpPr>
          <p:cNvPr id="15" name="Chevron 14"/>
          <p:cNvSpPr/>
          <p:nvPr/>
        </p:nvSpPr>
        <p:spPr>
          <a:xfrm>
            <a:off x="4041648" y="2395728"/>
            <a:ext cx="256032" cy="411480"/>
          </a:xfrm>
          <a:prstGeom prst="chevron">
            <a:avLst/>
          </a:prstGeom>
          <a:solidFill>
            <a:srgbClr val="5B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343400" y="205740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224028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67CC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6032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33B"/>
                </a:solidFill>
              </a:rPr>
              <a:t>CADASTRAR</a:t>
            </a:r>
          </a:p>
        </p:txBody>
      </p:sp>
      <p:sp>
        <p:nvSpPr>
          <p:cNvPr id="19" name="Chevron 18"/>
          <p:cNvSpPr/>
          <p:nvPr/>
        </p:nvSpPr>
        <p:spPr>
          <a:xfrm>
            <a:off x="5916168" y="2395728"/>
            <a:ext cx="256032" cy="411480"/>
          </a:xfrm>
          <a:prstGeom prst="chevron">
            <a:avLst/>
          </a:prstGeom>
          <a:solidFill>
            <a:srgbClr val="5B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17920" y="205740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59" y="224028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67CC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59" y="256032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33B"/>
                </a:solidFill>
              </a:rPr>
              <a:t>LISTAR</a:t>
            </a:r>
          </a:p>
        </p:txBody>
      </p:sp>
      <p:sp>
        <p:nvSpPr>
          <p:cNvPr id="23" name="Chevron 22"/>
          <p:cNvSpPr/>
          <p:nvPr/>
        </p:nvSpPr>
        <p:spPr>
          <a:xfrm>
            <a:off x="7790688" y="2395728"/>
            <a:ext cx="256032" cy="411480"/>
          </a:xfrm>
          <a:prstGeom prst="chevron">
            <a:avLst/>
          </a:prstGeom>
          <a:solidFill>
            <a:srgbClr val="5B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92440" y="205740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224028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67CC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256032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33B"/>
                </a:solidFill>
              </a:rPr>
              <a:t>EDITAR</a:t>
            </a:r>
          </a:p>
        </p:txBody>
      </p:sp>
      <p:sp>
        <p:nvSpPr>
          <p:cNvPr id="27" name="Chevron 26"/>
          <p:cNvSpPr/>
          <p:nvPr/>
        </p:nvSpPr>
        <p:spPr>
          <a:xfrm>
            <a:off x="9665208" y="2395728"/>
            <a:ext cx="256032" cy="411480"/>
          </a:xfrm>
          <a:prstGeom prst="chevron">
            <a:avLst/>
          </a:prstGeom>
          <a:solidFill>
            <a:srgbClr val="5B67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66960" y="2057400"/>
            <a:ext cx="15087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2240280"/>
            <a:ext cx="13258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2F67CC"/>
                </a:solidFill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560320"/>
            <a:ext cx="1325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17233B"/>
                </a:solidFill>
              </a:rPr>
              <a:t>EXCLUIR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828800" y="3977639"/>
            <a:ext cx="850392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029968" y="4178807"/>
            <a:ext cx="438912" cy="438912"/>
          </a:xfrm>
          <a:prstGeom prst="ellipse">
            <a:avLst/>
          </a:prstGeom>
          <a:solidFill>
            <a:srgbClr val="42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29968" y="420624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78608" y="4160520"/>
            <a:ext cx="7607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Roteiro para a apresentação ao vivo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4636007"/>
            <a:ext cx="804672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Entrar no sistema → cadastrar um amigo → mostrar a listagem → editar o registro → excluir → fazer logout. Assim, a banca visualiza o CRUD completo em poucos minutos.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789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7233B"/>
                </a:solidFill>
                <a:latin typeface="Aptos Display"/>
              </a:rPr>
              <a:t>10. Habilidades demonstradas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0" y="411480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  <a:latin typeface="Aptos"/>
              </a:rPr>
              <a:t>APRENDIZADOS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73952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5B6778"/>
                </a:solidFill>
              </a:rPr>
              <a:t>Programação Web II  •  Projeto CRUD +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4465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F67CC"/>
                </a:solidFill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32688" y="1435608"/>
            <a:ext cx="438912" cy="438912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46304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417320"/>
            <a:ext cx="4178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Front-end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92808"/>
            <a:ext cx="4617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Construção de formulários, tabelas e navegação.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2344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19088" y="1435608"/>
            <a:ext cx="438912" cy="438912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46304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67728" y="1417320"/>
            <a:ext cx="4178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Back-end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1892808"/>
            <a:ext cx="4617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Processamento das requisições e regras do sistema.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34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32688" y="3035808"/>
            <a:ext cx="438912" cy="438912"/>
          </a:xfrm>
          <a:prstGeom prst="ellipse">
            <a:avLst/>
          </a:prstGeom>
          <a:solidFill>
            <a:srgbClr val="F28B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6324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017520"/>
            <a:ext cx="4178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Banco de dados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493008"/>
            <a:ext cx="4617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Modelagem, SQL e operações CRUD.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28346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19088" y="3035808"/>
            <a:ext cx="438912" cy="438912"/>
          </a:xfrm>
          <a:prstGeom prst="ellipse">
            <a:avLst/>
          </a:prstGeom>
          <a:solidFill>
            <a:srgbClr val="42B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19088" y="306324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67728" y="3017520"/>
            <a:ext cx="4178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Autenticação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3493008"/>
            <a:ext cx="4617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Login, sessão e controle de acesso.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44348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32688" y="4636007"/>
            <a:ext cx="438912" cy="438912"/>
          </a:xfrm>
          <a:prstGeom prst="ellipse">
            <a:avLst/>
          </a:prstGeom>
          <a:solidFill>
            <a:srgbClr val="D5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2688" y="466344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81328" y="4617720"/>
            <a:ext cx="4178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Validação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5093207"/>
            <a:ext cx="4617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Tratamento de entradas e mensagens ao usuário.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434840"/>
            <a:ext cx="507492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E5EB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19088" y="4636007"/>
            <a:ext cx="438912" cy="438912"/>
          </a:xfrm>
          <a:prstGeom prst="ellipse">
            <a:avLst/>
          </a:prstGeom>
          <a:solidFill>
            <a:srgbClr val="2F67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19088" y="4663440"/>
            <a:ext cx="438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67728" y="4617720"/>
            <a:ext cx="4178808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233B"/>
                </a:solidFill>
                <a:latin typeface="Aptos"/>
              </a:rPr>
              <a:t>Organização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5093207"/>
            <a:ext cx="4617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5B6778"/>
                </a:solidFill>
                <a:latin typeface="Aptos"/>
              </a:defRPr>
            </a:pPr>
            <a:r>
              <a:t>Separação das responsabilidades e manutenção do projeto.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3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</a:rPr>
              <a:t>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057400"/>
            <a:ext cx="98755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000">
                <a:solidFill>
                  <a:srgbClr val="DCE4F2"/>
                </a:solidFill>
              </a:defRPr>
            </a:pPr>
            <a:r>
              <a:t>• O projeto reúne autenticação e gerenciamento de dados em uma aplicação web.</a:t>
            </a:r>
          </a:p>
          <a:p>
            <a:pPr>
              <a:spcAft>
                <a:spcPts val="1800"/>
              </a:spcAft>
              <a:defRPr sz="2000">
                <a:solidFill>
                  <a:srgbClr val="DCE4F2"/>
                </a:solidFill>
              </a:defRPr>
            </a:pPr>
            <a:r>
              <a:t>• O CRUD demonstra o ciclo completo de persistência: criar, consultar, atualizar e excluir.</a:t>
            </a:r>
          </a:p>
          <a:p>
            <a:pPr>
              <a:spcAft>
                <a:spcPts val="1800"/>
              </a:spcAft>
              <a:defRPr sz="2000">
                <a:solidFill>
                  <a:srgbClr val="DCE4F2"/>
                </a:solidFill>
              </a:defRPr>
            </a:pPr>
            <a:r>
              <a:t>• A apresentação evidencia não apenas o resultado visual, mas também a lógica e as decisões técnicas.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507492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42B5BE"/>
                </a:solidFill>
              </a:rPr>
              <a:t>Obrigada!</a:t>
            </a:r>
          </a:p>
          <a:p>
            <a:r>
              <a:rPr sz="1500">
                <a:solidFill>
                  <a:srgbClr val="FFFFFF"/>
                </a:solidFill>
              </a:rPr>
              <a:t>Demonstração prática do projeto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